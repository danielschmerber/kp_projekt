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1" r:id="rId5"/>
    <p:sldId id="262" r:id="rId6"/>
    <p:sldId id="267" r:id="rId7"/>
    <p:sldId id="264" r:id="rId8"/>
    <p:sldId id="265" r:id="rId9"/>
    <p:sldId id="266" r:id="rId10"/>
    <p:sldId id="268" r:id="rId11"/>
    <p:sldId id="263" r:id="rId12"/>
    <p:sldId id="275" r:id="rId13"/>
    <p:sldId id="276" r:id="rId14"/>
    <p:sldId id="277" r:id="rId15"/>
    <p:sldId id="278" r:id="rId16"/>
    <p:sldId id="271" r:id="rId17"/>
    <p:sldId id="272" r:id="rId18"/>
    <p:sldId id="269" r:id="rId19"/>
    <p:sldId id="259" r:id="rId20"/>
    <p:sldId id="260" r:id="rId21"/>
    <p:sldId id="274" r:id="rId22"/>
    <p:sldId id="2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12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872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986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24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528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28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95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921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958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4059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7001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2008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4741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6197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3823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8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786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6F0CB-5974-48FA-B8E3-B5D0E48CFDC0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D08B38C-2388-4553-899F-F6C70B3405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703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7990A-7983-6949-A965-07A8C1A1A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2404534"/>
            <a:ext cx="8066837" cy="1646302"/>
          </a:xfrm>
        </p:spPr>
        <p:txBody>
          <a:bodyPr/>
          <a:lstStyle/>
          <a:p>
            <a:r>
              <a:rPr lang="en-DE" dirty="0"/>
              <a:t>KP </a:t>
            </a:r>
            <a:r>
              <a:rPr lang="en-DE" dirty="0" err="1"/>
              <a:t>Abschlusspräsentation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382AD8-B8D4-78A3-E693-B9550E983E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Daniel Schmerber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449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ACED-367D-75B5-EA97-F0642974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Gleam vs GO : </a:t>
            </a:r>
            <a:r>
              <a:rPr lang="en-DE" dirty="0" err="1"/>
              <a:t>Funktionales</a:t>
            </a:r>
            <a:r>
              <a:rPr lang="en-DE" dirty="0"/>
              <a:t> </a:t>
            </a:r>
            <a:r>
              <a:rPr lang="en-DE" dirty="0" err="1"/>
              <a:t>Programmieren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4508ED-3F05-1E8F-4D80-C4CA2BA14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7" name="Grafik 6" descr="Ein Bild, das Kreativität, Kunst, Stern enthält.&#10;&#10;KI-generierte Inhalte können fehlerhaft sein.">
            <a:extLst>
              <a:ext uri="{FF2B5EF4-FFF2-40B4-BE49-F238E27FC236}">
                <a16:creationId xmlns:a16="http://schemas.microsoft.com/office/drawing/2014/main" id="{B37A4B59-D41A-ECC6-1596-D9E10E77B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34" y="2665316"/>
            <a:ext cx="2998076" cy="2871317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2F79F47-EBD4-6574-53C4-9A0B73409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608" y="2665316"/>
            <a:ext cx="3144934" cy="314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76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C6C42-CD03-E209-7C3A-7AE742119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Agenda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24781D-4A84-0654-2969-14B21550F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 err="1"/>
              <a:t>Ziele</a:t>
            </a:r>
            <a:r>
              <a:rPr lang="en-DE" dirty="0"/>
              <a:t> des </a:t>
            </a:r>
            <a:r>
              <a:rPr lang="en-DE" dirty="0" err="1"/>
              <a:t>Projekts</a:t>
            </a:r>
            <a:endParaRPr lang="en-DE" dirty="0"/>
          </a:p>
          <a:p>
            <a:r>
              <a:rPr lang="en-DE" dirty="0"/>
              <a:t>Aufbau MD5 </a:t>
            </a:r>
            <a:r>
              <a:rPr lang="en-DE" dirty="0" err="1"/>
              <a:t>Hashalgorithmus</a:t>
            </a:r>
            <a:endParaRPr lang="en-DE" dirty="0"/>
          </a:p>
          <a:p>
            <a:r>
              <a:rPr lang="en-DE" dirty="0" err="1"/>
              <a:t>Vergleich</a:t>
            </a:r>
            <a:r>
              <a:rPr lang="en-DE" dirty="0"/>
              <a:t> Go vs Gleam</a:t>
            </a:r>
          </a:p>
          <a:p>
            <a:pPr lvl="1"/>
            <a:r>
              <a:rPr lang="en-DE" dirty="0"/>
              <a:t>Functional Programming</a:t>
            </a:r>
          </a:p>
          <a:p>
            <a:pPr lvl="1"/>
            <a:r>
              <a:rPr lang="en-DE" dirty="0"/>
              <a:t>Bitwise Operations	</a:t>
            </a:r>
          </a:p>
          <a:p>
            <a:pPr lvl="1"/>
            <a:r>
              <a:rPr lang="en-DE" dirty="0"/>
              <a:t>Error Handling</a:t>
            </a:r>
          </a:p>
          <a:p>
            <a:r>
              <a:rPr lang="en-DE" dirty="0"/>
              <a:t>Live Demo</a:t>
            </a:r>
          </a:p>
          <a:p>
            <a:r>
              <a:rPr lang="en-DE" dirty="0"/>
              <a:t>Benchmarks</a:t>
            </a:r>
          </a:p>
          <a:p>
            <a:r>
              <a:rPr lang="en-DE" dirty="0" err="1"/>
              <a:t>Erfahrung</a:t>
            </a:r>
            <a:r>
              <a:rPr lang="en-DE" dirty="0"/>
              <a:t> </a:t>
            </a:r>
            <a:r>
              <a:rPr lang="en-DE" dirty="0" err="1"/>
              <a:t>mit</a:t>
            </a:r>
            <a:r>
              <a:rPr lang="en-DE" dirty="0"/>
              <a:t> SWE </a:t>
            </a:r>
            <a:r>
              <a:rPr lang="en-DE" dirty="0" err="1"/>
              <a:t>agenten</a:t>
            </a:r>
            <a:endParaRPr lang="en-DE" dirty="0"/>
          </a:p>
          <a:p>
            <a:pPr lvl="1"/>
            <a:endParaRPr lang="en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0938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78342-9B38-2C7F-A834-CA0C8F5B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Ziele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F7C43C-9E0B-1309-B255-A39151D43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MD5 Hash von Strings </a:t>
            </a:r>
            <a:r>
              <a:rPr lang="en-DE" dirty="0" err="1"/>
              <a:t>berechnen</a:t>
            </a:r>
            <a:endParaRPr lang="en-DE" dirty="0"/>
          </a:p>
          <a:p>
            <a:endParaRPr lang="en-DE" dirty="0"/>
          </a:p>
          <a:p>
            <a:r>
              <a:rPr lang="en-DE" dirty="0"/>
              <a:t>MD5 Hash von Files </a:t>
            </a:r>
            <a:r>
              <a:rPr lang="en-DE" dirty="0" err="1"/>
              <a:t>berechnen</a:t>
            </a:r>
            <a:endParaRPr lang="en-DE" dirty="0"/>
          </a:p>
          <a:p>
            <a:endParaRPr lang="en-DE" dirty="0"/>
          </a:p>
          <a:p>
            <a:r>
              <a:rPr lang="en-DE" dirty="0" err="1"/>
              <a:t>Interaktiver</a:t>
            </a:r>
            <a:r>
              <a:rPr lang="en-DE" dirty="0"/>
              <a:t> Modus</a:t>
            </a:r>
          </a:p>
          <a:p>
            <a:endParaRPr lang="en-DE" dirty="0"/>
          </a:p>
          <a:p>
            <a:r>
              <a:rPr lang="en-DE" dirty="0"/>
              <a:t>Benchmarking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6694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1DD5F-C0F5-BE6C-8471-ECF4123C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MD5 Hash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B63A0E-7D3F-E945-C6D6-E226076C3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677D641-AD75-464C-D33B-03DEAB0F5B67}"/>
              </a:ext>
            </a:extLst>
          </p:cNvPr>
          <p:cNvSpPr/>
          <p:nvPr/>
        </p:nvSpPr>
        <p:spPr>
          <a:xfrm>
            <a:off x="819150" y="3276600"/>
            <a:ext cx="2098848" cy="1438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Input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CCE8C89-A50E-97D8-8519-91600AA3893D}"/>
              </a:ext>
            </a:extLst>
          </p:cNvPr>
          <p:cNvSpPr/>
          <p:nvPr/>
        </p:nvSpPr>
        <p:spPr>
          <a:xfrm>
            <a:off x="4316769" y="3276600"/>
            <a:ext cx="2098848" cy="1438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MD5</a:t>
            </a:r>
            <a:br>
              <a:rPr lang="en-DE" dirty="0"/>
            </a:br>
            <a:r>
              <a:rPr lang="en-DE" dirty="0"/>
              <a:t>Algorithm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7965D0E-A31F-3C01-0054-5C23B6CFC2B0}"/>
              </a:ext>
            </a:extLst>
          </p:cNvPr>
          <p:cNvSpPr/>
          <p:nvPr/>
        </p:nvSpPr>
        <p:spPr>
          <a:xfrm>
            <a:off x="7814387" y="3276600"/>
            <a:ext cx="1948737" cy="1438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16 bytes hash</a:t>
            </a:r>
            <a:endParaRPr lang="de-DE" dirty="0"/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720B7FB8-8779-8C73-7722-29334A966EAE}"/>
              </a:ext>
            </a:extLst>
          </p:cNvPr>
          <p:cNvSpPr/>
          <p:nvPr/>
        </p:nvSpPr>
        <p:spPr>
          <a:xfrm>
            <a:off x="3114675" y="3829050"/>
            <a:ext cx="1038225" cy="238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4DFD5F92-3AD5-6DBC-7B9E-2F19B48EE668}"/>
              </a:ext>
            </a:extLst>
          </p:cNvPr>
          <p:cNvSpPr/>
          <p:nvPr/>
        </p:nvSpPr>
        <p:spPr>
          <a:xfrm>
            <a:off x="6579486" y="3829050"/>
            <a:ext cx="1038225" cy="238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ED03225-C8DD-67D1-39EA-00826DA24787}"/>
              </a:ext>
            </a:extLst>
          </p:cNvPr>
          <p:cNvSpPr txBox="1"/>
          <p:nvPr/>
        </p:nvSpPr>
        <p:spPr>
          <a:xfrm>
            <a:off x="1485295" y="494506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Katze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B1E1694-1176-C5C5-508A-2E4A654D881D}"/>
              </a:ext>
            </a:extLst>
          </p:cNvPr>
          <p:cNvSpPr txBox="1"/>
          <p:nvPr/>
        </p:nvSpPr>
        <p:spPr>
          <a:xfrm>
            <a:off x="7026629" y="4945063"/>
            <a:ext cx="47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ce6779ff36bd319077abbdb6a81cf7e6</a:t>
            </a:r>
            <a:endParaRPr lang="de-DE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5BC552C-6A4D-0CD4-E1F9-744EF18818D6}"/>
              </a:ext>
            </a:extLst>
          </p:cNvPr>
          <p:cNvCxnSpPr>
            <a:stCxn id="11" idx="3"/>
          </p:cNvCxnSpPr>
          <p:nvPr/>
        </p:nvCxnSpPr>
        <p:spPr>
          <a:xfrm flipV="1">
            <a:off x="2251852" y="5129729"/>
            <a:ext cx="48467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 descr="Ein Bild, das Säugetier, Katze, Schnurrhaare, Kleine bis mittelgroße Katzen enthält.&#10;&#10;KI-generierte Inhalte können fehlerhaft sein.">
            <a:extLst>
              <a:ext uri="{FF2B5EF4-FFF2-40B4-BE49-F238E27FC236}">
                <a16:creationId xmlns:a16="http://schemas.microsoft.com/office/drawing/2014/main" id="{F0C2AEE5-2890-236F-ADF8-5600FC9A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295" y="5613904"/>
            <a:ext cx="766557" cy="1141906"/>
          </a:xfrm>
          <a:prstGeom prst="rect">
            <a:avLst/>
          </a:prstGeom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97484F9-B5F0-5618-6927-F4E54DDFFB48}"/>
              </a:ext>
            </a:extLst>
          </p:cNvPr>
          <p:cNvCxnSpPr/>
          <p:nvPr/>
        </p:nvCxnSpPr>
        <p:spPr>
          <a:xfrm flipV="1">
            <a:off x="2267368" y="6184857"/>
            <a:ext cx="48467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DE79655F-BB57-DB12-078D-49F947806767}"/>
              </a:ext>
            </a:extLst>
          </p:cNvPr>
          <p:cNvSpPr txBox="1"/>
          <p:nvPr/>
        </p:nvSpPr>
        <p:spPr>
          <a:xfrm>
            <a:off x="7026629" y="5971791"/>
            <a:ext cx="4065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cd84c962aa00da2c1f0650e20b0db1d1</a:t>
            </a:r>
          </a:p>
        </p:txBody>
      </p:sp>
    </p:spTree>
    <p:extLst>
      <p:ext uri="{BB962C8B-B14F-4D97-AF65-F5344CB8AC3E}">
        <p14:creationId xmlns:p14="http://schemas.microsoft.com/office/powerpoint/2010/main" val="1085513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B846C-E008-40FE-D662-48C5E1243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63102D-38CE-EF70-B222-0E93E945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Algorithmus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5D7382-0EA4-8C1F-AD07-EC6FAB4E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  <a:p>
            <a:endParaRPr lang="de-DE" dirty="0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D6D6B231-082A-5008-4863-246E5AF4B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24" y="-480259"/>
            <a:ext cx="4987925" cy="781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3BB7B0-B0BF-4182-951B-DB01BACB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Algorithmus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A16706-0424-2509-2B21-D3A11558A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Message Padding</a:t>
            </a:r>
          </a:p>
          <a:p>
            <a:endParaRPr lang="en-DE" dirty="0"/>
          </a:p>
          <a:p>
            <a:endParaRPr lang="de-DE" dirty="0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45E535AA-2739-8BEB-76F8-1BA2FBFFD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24" y="-480259"/>
            <a:ext cx="4987925" cy="781851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C4695345-6A45-C250-D39F-38B90E43608C}"/>
              </a:ext>
            </a:extLst>
          </p:cNvPr>
          <p:cNvSpPr/>
          <p:nvPr/>
        </p:nvSpPr>
        <p:spPr>
          <a:xfrm>
            <a:off x="7896225" y="1026160"/>
            <a:ext cx="4010025" cy="631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3BE9D0A-64A2-69AD-3083-A582D952AB6F}"/>
              </a:ext>
            </a:extLst>
          </p:cNvPr>
          <p:cNvCxnSpPr/>
          <p:nvPr/>
        </p:nvCxnSpPr>
        <p:spPr>
          <a:xfrm flipV="1">
            <a:off x="2895600" y="914400"/>
            <a:ext cx="4914900" cy="14192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334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B6140-194B-2D7D-0C66-031B12FD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8A494-37AE-4B13-9715-93C1EC86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Algorithmus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4957EF-F7C0-F291-4C0A-CB8DE51C1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Message Padding</a:t>
            </a:r>
          </a:p>
          <a:p>
            <a:r>
              <a:rPr lang="en-DE" dirty="0"/>
              <a:t>Process 512 bit chunks</a:t>
            </a:r>
          </a:p>
          <a:p>
            <a:endParaRPr lang="de-DE" dirty="0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50985AC3-C192-3122-D579-BCC8F2D58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24" y="-480259"/>
            <a:ext cx="4987925" cy="781851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DEB25AE9-D400-4274-9DF4-06493B21A7A7}"/>
              </a:ext>
            </a:extLst>
          </p:cNvPr>
          <p:cNvSpPr/>
          <p:nvPr/>
        </p:nvSpPr>
        <p:spPr>
          <a:xfrm>
            <a:off x="7940673" y="1647824"/>
            <a:ext cx="4010025" cy="4886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37D1BB2-09B6-A3EC-A9A1-C1F785BC1797}"/>
              </a:ext>
            </a:extLst>
          </p:cNvPr>
          <p:cNvCxnSpPr>
            <a:cxnSpLocks/>
          </p:cNvCxnSpPr>
          <p:nvPr/>
        </p:nvCxnSpPr>
        <p:spPr>
          <a:xfrm>
            <a:off x="3520440" y="2788920"/>
            <a:ext cx="4299585" cy="10591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580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E8B99-4942-9D8C-B30D-B0887D7D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C6B9D-A108-5684-E44F-A41DB85F9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Algorithmus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A60E7F-E119-8ACD-9D5F-A840AA693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Message Padding</a:t>
            </a:r>
          </a:p>
          <a:p>
            <a:r>
              <a:rPr lang="en-DE" dirty="0"/>
              <a:t>Process 512 bit chunks</a:t>
            </a:r>
          </a:p>
          <a:p>
            <a:r>
              <a:rPr lang="en-DE" dirty="0"/>
              <a:t>Main loop, for 32 bit slices</a:t>
            </a:r>
            <a:endParaRPr lang="de-DE" dirty="0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3DDE337B-3693-BBD5-86E1-FA78DF54F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24" y="-480259"/>
            <a:ext cx="4987925" cy="781851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5A62EE3-9B06-A54E-7F21-DC11080C29C0}"/>
              </a:ext>
            </a:extLst>
          </p:cNvPr>
          <p:cNvSpPr/>
          <p:nvPr/>
        </p:nvSpPr>
        <p:spPr>
          <a:xfrm>
            <a:off x="7940673" y="2844799"/>
            <a:ext cx="4010025" cy="19367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7E664F9-3B66-923C-9758-43A75A78A9EE}"/>
              </a:ext>
            </a:extLst>
          </p:cNvPr>
          <p:cNvCxnSpPr>
            <a:cxnSpLocks/>
          </p:cNvCxnSpPr>
          <p:nvPr/>
        </p:nvCxnSpPr>
        <p:spPr>
          <a:xfrm>
            <a:off x="3917950" y="3181350"/>
            <a:ext cx="3902075" cy="666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549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3D52-03AE-1B14-EC25-BD92D4E1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E93EC3-1289-67CE-AC9A-C961BE7F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Algorithmus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FD0D11-FBE4-3E6E-36E6-C1C7839C2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Message Padding</a:t>
            </a:r>
          </a:p>
          <a:p>
            <a:r>
              <a:rPr lang="en-DE" dirty="0"/>
              <a:t>Process 512 bit chunks</a:t>
            </a:r>
          </a:p>
          <a:p>
            <a:r>
              <a:rPr lang="en-DE" dirty="0"/>
              <a:t>Main loop, for 32 bit slices</a:t>
            </a:r>
          </a:p>
          <a:p>
            <a:r>
              <a:rPr lang="en-DE" dirty="0"/>
              <a:t>Combine A,B,C,D to hash</a:t>
            </a:r>
            <a:endParaRPr lang="de-DE" dirty="0"/>
          </a:p>
        </p:txBody>
      </p:sp>
      <p:pic>
        <p:nvPicPr>
          <p:cNvPr id="5" name="Grafik 4" descr="Ein Bild, das Text, Screenshot, Software, Display enthält.&#10;&#10;KI-generierte Inhalte können fehlerhaft sein.">
            <a:extLst>
              <a:ext uri="{FF2B5EF4-FFF2-40B4-BE49-F238E27FC236}">
                <a16:creationId xmlns:a16="http://schemas.microsoft.com/office/drawing/2014/main" id="{CBBF2F21-2188-78DD-230C-C67DDB47C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24" y="-480259"/>
            <a:ext cx="4987925" cy="781851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57540FDF-E0F7-A76D-5C3A-1E327F8F9F82}"/>
              </a:ext>
            </a:extLst>
          </p:cNvPr>
          <p:cNvSpPr/>
          <p:nvPr/>
        </p:nvSpPr>
        <p:spPr>
          <a:xfrm>
            <a:off x="7940673" y="6581775"/>
            <a:ext cx="4010025" cy="276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766688A-227E-99C4-4903-C8CBD472DCA2}"/>
              </a:ext>
            </a:extLst>
          </p:cNvPr>
          <p:cNvCxnSpPr>
            <a:cxnSpLocks/>
          </p:cNvCxnSpPr>
          <p:nvPr/>
        </p:nvCxnSpPr>
        <p:spPr>
          <a:xfrm>
            <a:off x="3810000" y="3562350"/>
            <a:ext cx="4130673" cy="3162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990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131BD1-0A63-3D89-3F7B-80F0E46E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Funktionales</a:t>
            </a:r>
            <a:r>
              <a:rPr lang="en-DE" dirty="0"/>
              <a:t> </a:t>
            </a:r>
            <a:r>
              <a:rPr lang="en-DE" dirty="0" err="1"/>
              <a:t>Programmieren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BD4059E-5252-5136-4C0A-1207D667E9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332187"/>
              </p:ext>
            </p:extLst>
          </p:nvPr>
        </p:nvGraphicFramePr>
        <p:xfrm>
          <a:off x="677863" y="2160588"/>
          <a:ext cx="9685338" cy="377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446">
                  <a:extLst>
                    <a:ext uri="{9D8B030D-6E8A-4147-A177-3AD203B41FA5}">
                      <a16:colId xmlns:a16="http://schemas.microsoft.com/office/drawing/2014/main" val="3043412248"/>
                    </a:ext>
                  </a:extLst>
                </a:gridCol>
                <a:gridCol w="3228446">
                  <a:extLst>
                    <a:ext uri="{9D8B030D-6E8A-4147-A177-3AD203B41FA5}">
                      <a16:colId xmlns:a16="http://schemas.microsoft.com/office/drawing/2014/main" val="1117555193"/>
                    </a:ext>
                  </a:extLst>
                </a:gridCol>
                <a:gridCol w="3228446">
                  <a:extLst>
                    <a:ext uri="{9D8B030D-6E8A-4147-A177-3AD203B41FA5}">
                      <a16:colId xmlns:a16="http://schemas.microsoft.com/office/drawing/2014/main" val="2535121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Gleam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Go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90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Function as values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effectLst/>
                        </a:rPr>
                        <a:t>✅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effectLst/>
                        </a:rPr>
                        <a:t>✅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803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Partial application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effectLst/>
                        </a:rPr>
                        <a:t>✅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216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Tail Recursion optimisation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effectLst/>
                        </a:rPr>
                        <a:t>✅</a:t>
                      </a:r>
                      <a:endParaRPr lang="de-DE" dirty="0"/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❌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840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Mutability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Everything Immutable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const only at compile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89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Pattern Matching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effectLst/>
                        </a:rPr>
                        <a:t>✅ Strong </a:t>
                      </a:r>
                      <a:r>
                        <a:rPr lang="en-DE" dirty="0" err="1">
                          <a:effectLst/>
                        </a:rPr>
                        <a:t>patternmatching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🟡 Simple switch cases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09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Functions returns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Implicitly Return last token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 err="1"/>
                        <a:t>Explizit</a:t>
                      </a:r>
                      <a:r>
                        <a:rPr lang="en-DE" dirty="0"/>
                        <a:t> returns via “return” keyword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77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 err="1"/>
                        <a:t>Schleifen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Rekursion, </a:t>
                      </a:r>
                      <a:r>
                        <a:rPr lang="en-DE" dirty="0" err="1"/>
                        <a:t>oder</a:t>
                      </a:r>
                      <a:r>
                        <a:rPr lang="en-DE" dirty="0"/>
                        <a:t>  </a:t>
                      </a:r>
                      <a:r>
                        <a:rPr lang="en-DE" dirty="0" err="1"/>
                        <a:t>Rekursive</a:t>
                      </a:r>
                      <a:r>
                        <a:rPr lang="en-DE" dirty="0"/>
                        <a:t> </a:t>
                      </a:r>
                      <a:r>
                        <a:rPr lang="en-DE" dirty="0" err="1"/>
                        <a:t>Helferfunktionen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For Loop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567713"/>
                  </a:ext>
                </a:extLst>
              </a:tr>
            </a:tbl>
          </a:graphicData>
        </a:graphic>
      </p:graphicFrame>
      <p:pic>
        <p:nvPicPr>
          <p:cNvPr id="5" name="Grafik 4" descr="Ein Bild, das Kreativität, Kunst, Stern enthält.&#10;&#10;KI-generierte Inhalte können fehlerhaft sein.">
            <a:extLst>
              <a:ext uri="{FF2B5EF4-FFF2-40B4-BE49-F238E27FC236}">
                <a16:creationId xmlns:a16="http://schemas.microsoft.com/office/drawing/2014/main" id="{A5E3BF59-054A-99B3-FAEE-201E0F9FB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827" y="2231580"/>
            <a:ext cx="261841" cy="25077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CA1F833-384B-8F40-B3D2-A77ECE22F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751" y="2231580"/>
            <a:ext cx="213367" cy="21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995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713914-7E67-BFA9-2B40-9564870A0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Bitwise Operation: Gleam</a:t>
            </a:r>
            <a:endParaRPr lang="de-DE" dirty="0"/>
          </a:p>
        </p:txBody>
      </p:sp>
      <p:pic>
        <p:nvPicPr>
          <p:cNvPr id="9" name="Grafik 8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FDD902C5-CBD4-1C24-1CE8-CC51960A6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429" y="3109416"/>
            <a:ext cx="8335538" cy="4210638"/>
          </a:xfrm>
          <a:prstGeom prst="rect">
            <a:avLst/>
          </a:prstGeom>
        </p:spPr>
      </p:pic>
      <p:pic>
        <p:nvPicPr>
          <p:cNvPr id="11" name="Grafik 10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2CE15B7F-40EC-1424-1B90-32E1DA5E7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429" y="1251782"/>
            <a:ext cx="5182323" cy="1857634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4B249694-BEAC-B08C-7A96-48A281CAF98D}"/>
              </a:ext>
            </a:extLst>
          </p:cNvPr>
          <p:cNvSpPr txBox="1"/>
          <p:nvPr/>
        </p:nvSpPr>
        <p:spPr>
          <a:xfrm>
            <a:off x="241300" y="1403350"/>
            <a:ext cx="2724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DE" dirty="0"/>
          </a:p>
          <a:p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E07C575-A22C-B09E-3F04-6B367EBFD5BC}"/>
              </a:ext>
            </a:extLst>
          </p:cNvPr>
          <p:cNvSpPr txBox="1"/>
          <p:nvPr/>
        </p:nvSpPr>
        <p:spPr>
          <a:xfrm>
            <a:off x="113031" y="1809750"/>
            <a:ext cx="2724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 err="1"/>
              <a:t>BitArrays</a:t>
            </a:r>
            <a:r>
              <a:rPr lang="en-DE" dirty="0"/>
              <a:t> </a:t>
            </a:r>
            <a:r>
              <a:rPr lang="en-DE" dirty="0" err="1"/>
              <a:t>im</a:t>
            </a:r>
            <a:r>
              <a:rPr lang="en-DE" dirty="0"/>
              <a:t> </a:t>
            </a:r>
            <a:r>
              <a:rPr lang="en-DE" dirty="0" err="1"/>
              <a:t>Typsystem</a:t>
            </a:r>
            <a:r>
              <a:rPr lang="en-DE" dirty="0"/>
              <a:t>.</a:t>
            </a:r>
          </a:p>
          <a:p>
            <a:endParaRPr lang="en-DE" dirty="0"/>
          </a:p>
          <a:p>
            <a:r>
              <a:rPr lang="en-DE" dirty="0"/>
              <a:t>Support für Pattern matching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6429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C332B-D841-D0CC-9553-87D592D6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05" y="616424"/>
            <a:ext cx="8596668" cy="1320800"/>
          </a:xfrm>
        </p:spPr>
        <p:txBody>
          <a:bodyPr/>
          <a:lstStyle/>
          <a:p>
            <a:r>
              <a:rPr lang="en-DE" dirty="0"/>
              <a:t>Bitwise Operation: Gleam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5AFEFD-6332-1C46-D300-B8454A098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805" y="2173763"/>
            <a:ext cx="8596668" cy="3880773"/>
          </a:xfrm>
        </p:spPr>
        <p:txBody>
          <a:bodyPr/>
          <a:lstStyle/>
          <a:p>
            <a:r>
              <a:rPr lang="en-DE" dirty="0"/>
              <a:t>Aber: bitwise </a:t>
            </a:r>
            <a:r>
              <a:rPr lang="en-DE" dirty="0" err="1"/>
              <a:t>operationen</a:t>
            </a:r>
            <a:r>
              <a:rPr lang="en-DE" dirty="0"/>
              <a:t> </a:t>
            </a:r>
            <a:r>
              <a:rPr lang="en-DE" dirty="0" err="1"/>
              <a:t>nur</a:t>
            </a:r>
            <a:r>
              <a:rPr lang="en-DE" dirty="0"/>
              <a:t> auf </a:t>
            </a:r>
            <a:r>
              <a:rPr lang="en-DE" dirty="0" err="1"/>
              <a:t>funktionen</a:t>
            </a:r>
            <a:r>
              <a:rPr lang="en-DE" dirty="0"/>
              <a:t> auf Int</a:t>
            </a:r>
          </a:p>
          <a:p>
            <a:r>
              <a:rPr lang="de-DE" dirty="0"/>
              <a:t>⚡</a:t>
            </a:r>
            <a:r>
              <a:rPr lang="en-DE" dirty="0"/>
              <a:t> </a:t>
            </a:r>
            <a:r>
              <a:rPr lang="en-DE" dirty="0" err="1"/>
              <a:t>Plattform</a:t>
            </a:r>
            <a:r>
              <a:rPr lang="en-DE" dirty="0"/>
              <a:t> </a:t>
            </a:r>
            <a:r>
              <a:rPr lang="en-DE" dirty="0" err="1"/>
              <a:t>dependend</a:t>
            </a:r>
            <a:r>
              <a:rPr lang="en-DE" dirty="0"/>
              <a:t>!</a:t>
            </a:r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5B67A03F-5D1A-6A96-B696-206856602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328845"/>
              </p:ext>
            </p:extLst>
          </p:nvPr>
        </p:nvGraphicFramePr>
        <p:xfrm>
          <a:off x="8586621" y="2432524"/>
          <a:ext cx="27114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450">
                  <a:extLst>
                    <a:ext uri="{9D8B030D-6E8A-4147-A177-3AD203B41FA5}">
                      <a16:colId xmlns:a16="http://schemas.microsoft.com/office/drawing/2014/main" val="3724367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Bitwise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23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int.bitwise_and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(a, b)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39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int.bitwise_or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(a, b)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569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int.bitwise_xor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(a, b)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49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int.bitwise_not</a:t>
                      </a:r>
                      <a:r>
                        <a:rPr lang="de-D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(a)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799279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D21D471C-E270-6029-C544-5655D325D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05" y="3110046"/>
            <a:ext cx="1224815" cy="117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173B645-E83C-5D5B-FF79-8DF1573E5212}"/>
              </a:ext>
            </a:extLst>
          </p:cNvPr>
          <p:cNvSpPr txBox="1"/>
          <p:nvPr/>
        </p:nvSpPr>
        <p:spPr>
          <a:xfrm>
            <a:off x="1160415" y="332905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Int</a:t>
            </a:r>
            <a:endParaRPr lang="de-DE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CE09FE3-3205-67FE-DFC9-C0DAD45DC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220" y="4964042"/>
            <a:ext cx="1090494" cy="1090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C8452109-A4A8-457E-609C-59A4BC544A99}"/>
              </a:ext>
            </a:extLst>
          </p:cNvPr>
          <p:cNvSpPr txBox="1"/>
          <p:nvPr/>
        </p:nvSpPr>
        <p:spPr>
          <a:xfrm>
            <a:off x="1883391" y="5967909"/>
            <a:ext cx="2763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64bit</a:t>
            </a:r>
          </a:p>
          <a:p>
            <a:r>
              <a:rPr lang="en-DE" dirty="0"/>
              <a:t>float</a:t>
            </a:r>
            <a:endParaRPr lang="de-DE" dirty="0"/>
          </a:p>
        </p:txBody>
      </p:sp>
      <p:pic>
        <p:nvPicPr>
          <p:cNvPr id="1030" name="Picture 6" descr="data:image/png;base64,iVBORw0KGgoAAAANSUhEUgAAAPAAAADSCAMAAABD772dAAAA8FBMVEX///+pBTMAAACkAB6iAAvqwc6nAC2oAC/IZX+9S2aoADG/RGepADK+vr4zMzPsydMXFxd8fHyxsbFgYGArKytTU1P19fWkpKTMzMzf398dHR3GxsZzc3OmAChMTEwkJCQODg6RkZHo6OjZ2dmlACQ+Pj6np6fy8vL46u7U1NRqamqNjY2jABpDQ0NZWVmDg4PNgpKsGTy0Lk/ReZLz3+TgqbjZlKazF0i1O1f15OjHcYTeorKvJkbbmKrmtcPsxdDCTW+7NFzDa3y2Hk6+OmHObYm+WG3IeorAS2rCZHi9U2zPdY7KY4HVhJyxAD+8U2kGZ6MkAAAPAElEQVR4nO2de1ubSBTGCVlBKbmq5IomMcbctCaNGjXeqq1rq/H7f5slgQHmRoAcFLN5/9in21BmfsyZM+fMwIzwzVv3t8KXknb65IXzkBFkTzWftc9GCKjboe7B098QEl7Sf48+GyCwzlWVD5T0BpaHX8ygZ2r/1MMCK4nzKCp0++P12+NU7yenj0/3v64voQu4HUvhgFUJvgOP3h77SV2XZFlNKIosSXqzP/2bgS3n3GiqMMASdAdunz30dZmqjKz3H8/akOW8cJvYC1gengFWwqjG+TQp855t8uIaEPlswivIA1hVT+FqMGvdCy7u/PEmn+AMW7viNbEHMKxBj149cecFNm/AGvl2yCmNDyxPrqFKN574meoxVCCp/U2wZ/yssAdjLrCqPkOVPeu9C5vXVPNfKOINztDEBZa3MkBFC8LlVZ87TBDSn6CITxPMJuYBy5MboIIN3uekT9wZMVQbZ7aYTcwBVtWfYB6z/SMAr2HVV0Ce65kZUnOA5fEGTKkG72k/CG8i0b+Geda3Y5bfYAOr6hVImYa066Tf/mtJ0e9giv5Jx3Q8YMAG3tAD8hrj8RAmnThjjcVMYDUB1sCjR37iwlXyHMSo2y9+geEaWPvbDM6bUGQYT30zoa2LBQzYwJlmYIOeqfkG0sQjxsjEApbHQF5D0F59BJQMyRcwQ9OVSj1vBvDnN7BRLZjE9JrOEhnAgA38J1wDG476KSqbpoEV9QWirHl5YRs4oTRh3NYVFW3RwHBpofYjbAMbbgsmlKdnPhjAW1BZuPboLydkSfoDYtOX76RNU8Dq4AdESTONAiUNuOQpTEBN2TQFLA/B8uDzMEEHUh/Gzs7J2IMEVtTfIAUZ0r6FiCrdFYPQHZkyUcBwib82DeujZwLyWm2yE5PA8hhs4nAUMA/Gpf+CqcULEWwRwIBRlnC7hM8y3PQ9TC3OB57A8gRutfA8KS0h/QGmFhtEUkwCw1m0cLO1lDZhakF2YhwYMKw0+nBmOQFV48XLpJUB3ORsXPRjoPKB5eHXe8FhkQivRbTw1mdXD163eP6AAauDt8+uHrwyYz6wPIFK/eMkfBIABx5/duWi0G9uCysJoLEvXvqFLSO6gVeyCwvCG+amsRYGjCtjJHw63g0sTyBfHYqN8HktrIVX0mcRA7ELWF1NnyVkhhzgVQykZxqNecATuNdY4qQ29j6PC1iefHbVItIWB1hdwcxhrnc2sJJ4/eyaRaR3dh9WE2BLDjETD3hFnbQg/GEDK4OVDCwFD+DVHJW4wCsaSRv6w04eVnYY5gEr3z67YlGJDayofz67YlGJDawm/n52xaLSb+YUj5pYyfmdmTbdn239P4BVJnAUnxnGQr/YwCsbWfJaeAD4mVK8xO7DygD2Q8MYaVNlA69q7mAMS2xgsM8c4qZN5jisDGBXDpv/xEbs1UPo7PAi/IulkWoNDKUlXh2OVP9nYFgv/bAGjociCzyelnlZOkJFBnwfd2Do5CHkN2mRK7J8eIlPeCJVZDMeS33hEaEim8S7jj8w7Bsey30AEJ1c89L3oMCZpT7xiE6ulQfYl5YuYw8sD0GBhaCbO3yQoltMm8YztnQDw77+H9Ng2r0gDjvH8xrP2NINDBtbxjTUcr/FAxtqxTTyiO49rZgOxO53LWEHYi2e41KE71rGc94SA4Ydl+I5BYC9Lw27nPYWS6+FvREP+7LlRizzJewzHtj3eC5j6bWwr1qA3XQsvRb+GQ+s1/oVx1gL+4wH2GvFctID68PA01rtpsde7YBSZMl/58G+LgX+Xlr7mAxRGfw8HfpGJr4fBu3Ey2wvFUDS71F743So+0PGWxg4Q8x8RCc29zn3jYx/Eg88VXv0AQOTqj6bL7b7RCZ2eRiD7sb/ETYtvdsL+b6QCeAJ7CJx9DaNb9zfvluIjANDfyN+FPWLD7ZB+0Ym9uJR3kGBtagzJsbG/e3M6cQDmdx8CG6DuLlGUqQJhMTcRNcTmWxhYJsOu1erP8kTzjbFHsjUFnGwNh1+s1YfUtWf3E+tDOQLJjK1RRywTbeX2gnQW64RyT8y1cLQe3mcRTYySYv20GUi0/taAtv05TCiJpZ8HJ1jIE8JZMZGnsAvikfUxPLA177qFDK9VSvgvodmkZH0YiXh9ziIObLjORmb8Y6Bd027i8BRq+qm/29h26NnB5mxv/QA+AOm9ib4WKxIfwK1ioE8UXnACfk38EFpGXqn9mV5t4JaofZqfcvDAp4Af9CjXcP6LUUaBw4WRmProTOAFQVwc8u5LmGNOgSv83Ua89gD8NMdM5BTH2F4byd8pwW8f6lVIJinNuw5+CiibdnFs48uAW/iwGcQgfK6N/NkAivqT2Bg4fIKxHGpoXjdG0xxjh+CP6N1tAkw+WGMv2H23nhx7YzPBlZk8CYWRt+WdtWSFOrQGmyPON4RYsCneM6UeViujRVpGsru2lueyQN6mC/w+7aMNpdZIlf1p3AHbV1xN/LEHid0RD1T+zQ8sdwMubR55rH7sFvSewRbTWvXcrhcUdGnIZcIvLdMdwn4bFqkzEMyxKKx3H8Nm9BcEQdcehzWOo7kG/n2WzNoI8vJaegXfamT8byO443Ab820MfR5cqspJamGX8SlDvLwAo7IqGeNPE36bWUpKS+zv4ifA6ZchUVj1Ia024ekjwMgFf2fh6WqcD7wc2aaIz0io54p8yonPReeFL2vvy43UtwxziD2BFaliIza1O293JRkhbI6VVUkPanfL7tW3X5nBLOewLDHajOknb0+qMmmLkmSbJAriiLLkq4np/fnACs+AQ5rtaV7Lt/AqH138+P1/ulxKsnTi4dvv27uYDrS24DVYxYAJ3So448/XMyzaRcDK+oX3WZrtMXORhcBJ+SLL7ntVPuFk30vBOa8VhBzaVe8IW8xcKJJvzgSe50meEO8D2DDccEccf1xuqEjLDewaoz9qvkf1x+d/1f056/lqm/HEpfHTwsnVPkUeH0tUmWoFAlv4U0f+vuVtmK+9iJZMjxfa6211lprrbXWWmuttdZaa6211lqkRiVlqHjEv6I4u6AS6uZa46BYqVQ6ByXih4MUpSKnanNVip0Gv5gO7w4s5Xey2WztuMO/Yq9mXFFO0T+UrMpwqnLUSRVy28c75fTedrWQwph7YpZQbZuas6sc1tCvO4cnOeIWLlXN67p8BkeNnDhXnn9Jen7BDlWa1prXunbMeBaGivXdmuioXM27rCgnUjqhgFM7+BXlbp5tiNvm77uLYOc3PTQvrvKeHgIWqRbQCuYPadbDKrX2KKTvThmhgEUx22NaUxDgOnp6/A5gAYv1AMAHuSyNJHbtjhMSWBRzLOIAwAfb6E4F7rQ3AhYJ0/UA7myLTJ2gx8oA3vUFzKxnAOC83RAnXJu2gdO4Z+MD83hFca+EAWd392zleMDZ7VzVcQc7B8sAH3136sIdeGxgcRvzGVzgRtX+F8f1vKHerv0XXQz4sFO0RY8TFnA63ygV813UNIwm9g9cOXaA67yh2AEWe36AtXrZuny/XpzX7qhTsG+SdwPvedYOAc+booS8wi7di/0DF1zWdsiwFRK45mbjASPHL+7lncZIobukQwILpRPrDnTf8w1c6rqASZ/EAhbTLmfOAT5CDukQu2HFrH01bAsLAup+SwDn57aXtRzCd07E5AYWT5yLOMCogWstvLPN/GM3hTutQMB1y6bpAdQv8FHPZNgzifc54SUGXPtu/z0bWOtZV1IjZq7rxIZhgAv75j+ivatf4KIZDNWRR8mzh2IMWMy2bDQmcNHyyGWqXiWXLYZqYcsX0r7GL3DL4mxYXbnLtmk70hKx8jnALcvwqh7ZzVJ9uBa6D5eq6H4WSo1t0whYs6Jj1I3ZwChW5blAUxbwTt0Rbak4cJEoPjhwyuwTRtqA/Aw7vETAQsd6LjkPYOT40x75pgMs1mztk6G6Azz3UpUTy7cyOp4/YM1qi4LhvazQaI8ZXtrAQt78Q7nAB0ZduMvPvtzAjrI96iILeL+XzxdyKESi01S/wB2zatmZ7dWtp8dMmRxg5IHTKS4wit24cVtw4NpOOr1vX9cKnTxYzXXScVWzx6qmAyw0rGhnnmkwgVFE5eodqVwVUzcgMCamL/QFjKY65k2hWf+TZhmiC1g4ME1h3o2ZwHmrkq6/K5Cp8RLA7J7iC7iC1QxViuVb3cBCyvxzuc4Dtq52WV7BsUcKuGwrXVgMfNhij3V+gFFtD3Gfz7IYDBi5OqMbs02a7sMkcNYBPmyUbNG9iQAupxqcSQo/wB2rN1bx4JYxquPAQsO6u9GNvby068mRwDtCsMBjB2WbXEfoB9gyTREFii2rVoxRDgcWSqb116pHLQYwmjPac8ZhFIog7QYEPuxaVpPlzVH4AG6gXKtaMJWzzIcRxxDAQsWysO95BrCdOzgj3JFpsg3kJ3oBgdMpdE92nOALuIgoyvumymjSiA7NSWDUd3d2GcD2nAIdtaH0rhIUuHiAcn+OUfsAzos80fckgQWUbNRYwChM3aOe3InrPgGTh4LVjWvsyeTFwAfcaUXDcS4EFkqYG8KB7QkPMiRqWPdJhwBGsS9rQssXcErki4r6aWChyAe280NyPhXVuRUC2JknY+Y3C4GPeiJf30mbZgBrLT6wPVGGu5hW2X2bwPkwqjEzhV0IXLSe124h76hu/WWZtBoGsHvqmZq1tKdCd13EKAITq25gf/PSM+AS6oQso7Z+O+7w7oVcFh7Noc5HhpcsYKHkTPyQwHaHM/J7ZIB1O2jSsLKc0DJLL5diEwB2+MJIl7aJu2WJ8QsZ3R7u81AjbBPPkAns6sbUykPFXjis7eR6vV69m7ZXSqynGWQxzZrxsB8jd07L0SEObEUO5HKghjqfL2DNHtnotSVXfjSfzXBqgtasQwDbqyR0bLQA+MiK9XbIiqLIgDAaNrAz/jBWD6mMkIQKAWxPxNPh7wLgjvWoqInjAyt0OsZ/4AALpUMusOOTOUxhgBs2FxlhLgBGgzCdgOaYN+QBo0k95hsARfoFADtRMdSlfz2mgc0fasiL2u6faBGBKmvf3c9LdD6DlLc8YQ4bilEXpKnyfGBn7oNXy68oc3m51uL83HEG6zJztmwFddTJ1+spaiD5Dz6dpTh2yU79AAAAAElFTkSuQmCC">
            <a:extLst>
              <a:ext uri="{FF2B5EF4-FFF2-40B4-BE49-F238E27FC236}">
                <a16:creationId xmlns:a16="http://schemas.microsoft.com/office/drawing/2014/main" id="{77DE13BD-49E6-FD5E-88CB-1C9F76439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42" y="4964042"/>
            <a:ext cx="1248282" cy="1092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DE723A0-A5B5-BE2C-3F75-532DBF3B4031}"/>
              </a:ext>
            </a:extLst>
          </p:cNvPr>
          <p:cNvSpPr txBox="1"/>
          <p:nvPr/>
        </p:nvSpPr>
        <p:spPr>
          <a:xfrm>
            <a:off x="0" y="6134669"/>
            <a:ext cx="1627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Arbitrary Precision Int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9DFECA5-2E77-FEF1-6F29-028B42B39B18}"/>
              </a:ext>
            </a:extLst>
          </p:cNvPr>
          <p:cNvCxnSpPr/>
          <p:nvPr/>
        </p:nvCxnSpPr>
        <p:spPr>
          <a:xfrm flipH="1">
            <a:off x="948519" y="4428699"/>
            <a:ext cx="211896" cy="429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5F9A8CD-0480-2D92-FBC7-D2F0ED9D840A}"/>
              </a:ext>
            </a:extLst>
          </p:cNvPr>
          <p:cNvCxnSpPr/>
          <p:nvPr/>
        </p:nvCxnSpPr>
        <p:spPr>
          <a:xfrm>
            <a:off x="1711569" y="4286724"/>
            <a:ext cx="294651" cy="449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71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0DEA6-45CD-A9EF-D0E9-17DDBF2B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Bitwise Operation: Go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94E89E-4382-2F67-913A-1C96F85E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Kein </a:t>
            </a:r>
            <a:r>
              <a:rPr lang="en-DE" dirty="0" err="1"/>
              <a:t>eigener</a:t>
            </a:r>
            <a:r>
              <a:rPr lang="en-DE" dirty="0"/>
              <a:t> </a:t>
            </a:r>
            <a:r>
              <a:rPr lang="en-DE" dirty="0" err="1"/>
              <a:t>Typ</a:t>
            </a:r>
            <a:endParaRPr lang="en-DE" dirty="0"/>
          </a:p>
          <a:p>
            <a:r>
              <a:rPr lang="en-DE" dirty="0"/>
              <a:t>-&gt; bool[] </a:t>
            </a:r>
            <a:r>
              <a:rPr lang="en-DE" dirty="0" err="1"/>
              <a:t>oder</a:t>
            </a:r>
            <a:r>
              <a:rPr lang="en-DE" dirty="0"/>
              <a:t> byte[]</a:t>
            </a:r>
          </a:p>
          <a:p>
            <a:endParaRPr lang="en-DE" dirty="0"/>
          </a:p>
          <a:p>
            <a:r>
              <a:rPr lang="en-DE" dirty="0"/>
              <a:t>Bitwise Operations </a:t>
            </a:r>
            <a:r>
              <a:rPr lang="en-DE" dirty="0" err="1"/>
              <a:t>mit</a:t>
            </a:r>
            <a:r>
              <a:rPr lang="en-DE" dirty="0"/>
              <a:t> </a:t>
            </a:r>
            <a:r>
              <a:rPr lang="en-DE" dirty="0" err="1"/>
              <a:t>Operatoren</a:t>
            </a:r>
            <a:endParaRPr lang="en-DE" dirty="0"/>
          </a:p>
          <a:p>
            <a:endParaRPr lang="en-DE" dirty="0"/>
          </a:p>
          <a:p>
            <a:r>
              <a:rPr lang="en-DE" dirty="0"/>
              <a:t>Fixed Precision </a:t>
            </a:r>
            <a:r>
              <a:rPr lang="en-DE" dirty="0" err="1"/>
              <a:t>intergers</a:t>
            </a:r>
            <a:r>
              <a:rPr lang="en-DE" dirty="0"/>
              <a:t> (uint32)</a:t>
            </a:r>
          </a:p>
          <a:p>
            <a:endParaRPr lang="de-DE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4F7F978D-2657-F62F-3FA5-DB948F457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504865"/>
              </p:ext>
            </p:extLst>
          </p:nvPr>
        </p:nvGraphicFramePr>
        <p:xfrm>
          <a:off x="8586621" y="2432524"/>
          <a:ext cx="27114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450">
                  <a:extLst>
                    <a:ext uri="{9D8B030D-6E8A-4147-A177-3AD203B41FA5}">
                      <a16:colId xmlns:a16="http://schemas.microsoft.com/office/drawing/2014/main" val="3724367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Bitwise Operators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23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&amp; b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39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a `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569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^ b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449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^ a</a:t>
                      </a:r>
                      <a:endParaRPr lang="en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799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02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CD4594-A30B-C579-074A-313D8CFDD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Error Handling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50BBA8-43B4-06BA-CD1D-85BD717BF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Go:</a:t>
            </a:r>
            <a:br>
              <a:rPr lang="en-DE" dirty="0"/>
            </a:br>
            <a:r>
              <a:rPr lang="en-DE" dirty="0"/>
              <a:t>if(err != nil){}</a:t>
            </a:r>
          </a:p>
          <a:p>
            <a:endParaRPr lang="en-DE" dirty="0"/>
          </a:p>
          <a:p>
            <a:r>
              <a:rPr lang="en-DE" dirty="0"/>
              <a:t>Gleam:</a:t>
            </a:r>
            <a:br>
              <a:rPr lang="en-DE" dirty="0"/>
            </a:br>
            <a:r>
              <a:rPr lang="en-DE" dirty="0"/>
              <a:t>Result type </a:t>
            </a:r>
          </a:p>
          <a:p>
            <a:r>
              <a:rPr lang="en-DE" dirty="0"/>
              <a:t>Using the Result type</a:t>
            </a:r>
          </a:p>
          <a:p>
            <a:endParaRPr lang="en-DE" dirty="0"/>
          </a:p>
          <a:p>
            <a:endParaRPr lang="de-DE" dirty="0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67988761-B97F-FD32-4449-C546F8FEA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985" y="169440"/>
            <a:ext cx="5830114" cy="6382641"/>
          </a:xfrm>
          <a:prstGeom prst="rect">
            <a:avLst/>
          </a:prstGeom>
        </p:spPr>
      </p:pic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CB3BA1F7-3536-424A-39AD-3B6509775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34188"/>
              </p:ext>
            </p:extLst>
          </p:nvPr>
        </p:nvGraphicFramePr>
        <p:xfrm>
          <a:off x="1055602" y="4407647"/>
          <a:ext cx="392006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033">
                  <a:extLst>
                    <a:ext uri="{9D8B030D-6E8A-4147-A177-3AD203B41FA5}">
                      <a16:colId xmlns:a16="http://schemas.microsoft.com/office/drawing/2014/main" val="1313966743"/>
                    </a:ext>
                  </a:extLst>
                </a:gridCol>
                <a:gridCol w="1960033">
                  <a:extLst>
                    <a:ext uri="{9D8B030D-6E8A-4147-A177-3AD203B41FA5}">
                      <a16:colId xmlns:a16="http://schemas.microsoft.com/office/drawing/2014/main" val="1064972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38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</a:t>
                      </a:r>
                      <a:r>
                        <a:rPr lang="en-DE" dirty="0" err="1"/>
                        <a:t>atternmatching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34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.unwrap()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Requires fallback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495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let assert Ok()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Panics! Should be used </a:t>
                      </a:r>
                      <a:r>
                        <a:rPr lang="de-DE" dirty="0" err="1"/>
                        <a:t>sparingly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661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107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B004D-483C-2DCA-69EB-D017DD42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Demo!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9EF372-4CD2-B2AC-187B-37AABBFFC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9160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E9C136-1B65-43B9-69EC-4400BCE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Benchmark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97339C-16AC-35F8-7904-DDE829AC5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Go code ~10 times faster</a:t>
            </a:r>
          </a:p>
          <a:p>
            <a:endParaRPr lang="en-DE" dirty="0"/>
          </a:p>
          <a:p>
            <a:endParaRPr lang="de-DE" dirty="0"/>
          </a:p>
        </p:txBody>
      </p:sp>
      <p:pic>
        <p:nvPicPr>
          <p:cNvPr id="12" name="Grafik 11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EC8C6248-F1D6-F3A4-AC8B-94AB8A06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784" y="2018690"/>
            <a:ext cx="5506218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28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386B0-9B93-6025-3B4D-837E32EB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 err="1"/>
              <a:t>Vollständigkeit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E1F73F-3E60-B5A0-9756-9B7D58E9A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Keine </a:t>
            </a:r>
            <a:r>
              <a:rPr lang="en-DE" dirty="0" err="1"/>
              <a:t>externen</a:t>
            </a:r>
            <a:r>
              <a:rPr lang="en-DE" dirty="0"/>
              <a:t> dependencies für Go.</a:t>
            </a:r>
          </a:p>
          <a:p>
            <a:endParaRPr lang="en-DE" dirty="0"/>
          </a:p>
          <a:p>
            <a:endParaRPr lang="de-DE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6AB39C3-7262-A997-CB4E-2D0740743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058857"/>
              </p:ext>
            </p:extLst>
          </p:nvPr>
        </p:nvGraphicFramePr>
        <p:xfrm>
          <a:off x="677334" y="3429000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49837809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02724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Dependency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Reason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gleam_community_maths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sinus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14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argv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</a:t>
                      </a:r>
                      <a:r>
                        <a:rPr lang="en-DE" dirty="0"/>
                        <a:t>arse start arguments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05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simplifile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</a:t>
                      </a:r>
                      <a:r>
                        <a:rPr lang="en-DE" dirty="0" err="1"/>
                        <a:t>ead</a:t>
                      </a:r>
                      <a:r>
                        <a:rPr lang="en-DE" dirty="0"/>
                        <a:t> Files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618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gleescript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</a:t>
                      </a:r>
                      <a:r>
                        <a:rPr lang="en-DE" dirty="0" err="1"/>
                        <a:t>uild</a:t>
                      </a:r>
                      <a:r>
                        <a:rPr lang="en-DE" dirty="0"/>
                        <a:t> executable </a:t>
                      </a:r>
                      <a:r>
                        <a:rPr lang="en-DE" dirty="0" err="1"/>
                        <a:t>escript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31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input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Read stdin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915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01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076B87-FCBC-6250-7698-3EC518E3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SWE </a:t>
            </a:r>
            <a:r>
              <a:rPr lang="en-DE" dirty="0" err="1"/>
              <a:t>Agenten</a:t>
            </a:r>
            <a:endParaRPr lang="de-DE" dirty="0"/>
          </a:p>
        </p:txBody>
      </p:sp>
      <p:pic>
        <p:nvPicPr>
          <p:cNvPr id="11" name="Inhaltsplatzhalter 10" descr="Ein Bild, das Text, Screenshot, Software, Betriebssystem enthält.&#10;&#10;KI-generierte Inhalte können fehlerhaft sein.">
            <a:extLst>
              <a:ext uri="{FF2B5EF4-FFF2-40B4-BE49-F238E27FC236}">
                <a16:creationId xmlns:a16="http://schemas.microsoft.com/office/drawing/2014/main" id="{03EB4003-7A29-4212-FC0B-CD663CF5B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39648" y="-68238"/>
            <a:ext cx="7376103" cy="626039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6FF2DCC9-FD57-20FB-9625-163F41F43280}"/>
              </a:ext>
            </a:extLst>
          </p:cNvPr>
          <p:cNvSpPr txBox="1"/>
          <p:nvPr/>
        </p:nvSpPr>
        <p:spPr>
          <a:xfrm>
            <a:off x="4791423" y="5702490"/>
            <a:ext cx="6290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Ausschnitt </a:t>
            </a:r>
            <a:r>
              <a:rPr lang="en-DE" dirty="0" err="1"/>
              <a:t>aus</a:t>
            </a:r>
            <a:r>
              <a:rPr lang="en-DE" dirty="0"/>
              <a:t> GPT-5.2 Thinking</a:t>
            </a:r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07390A5-85DA-E6E6-00AE-E10411369F60}"/>
              </a:ext>
            </a:extLst>
          </p:cNvPr>
          <p:cNvSpPr/>
          <p:nvPr/>
        </p:nvSpPr>
        <p:spPr>
          <a:xfrm>
            <a:off x="5243513" y="2700338"/>
            <a:ext cx="1654968" cy="8691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0EE3DD6-5B73-1B1C-1AF4-5E1387F3D283}"/>
              </a:ext>
            </a:extLst>
          </p:cNvPr>
          <p:cNvSpPr/>
          <p:nvPr/>
        </p:nvSpPr>
        <p:spPr>
          <a:xfrm>
            <a:off x="5364955" y="3193257"/>
            <a:ext cx="1240633" cy="1762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44EC8E3-469A-47B3-E81C-F538A996230D}"/>
              </a:ext>
            </a:extLst>
          </p:cNvPr>
          <p:cNvSpPr txBox="1"/>
          <p:nvPr/>
        </p:nvSpPr>
        <p:spPr>
          <a:xfrm>
            <a:off x="405862" y="1497108"/>
            <a:ext cx="37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SWE-</a:t>
            </a:r>
            <a:r>
              <a:rPr lang="en-DE" dirty="0" err="1"/>
              <a:t>Agenten</a:t>
            </a:r>
            <a:r>
              <a:rPr lang="en-DE" dirty="0"/>
              <a:t> </a:t>
            </a:r>
            <a:r>
              <a:rPr lang="en-DE" dirty="0" err="1"/>
              <a:t>machen</a:t>
            </a:r>
            <a:r>
              <a:rPr lang="en-DE" dirty="0"/>
              <a:t> oft </a:t>
            </a:r>
            <a:r>
              <a:rPr lang="en-DE" dirty="0" err="1"/>
              <a:t>ähnliche</a:t>
            </a:r>
            <a:r>
              <a:rPr lang="en-DE" dirty="0"/>
              <a:t> Fehler </a:t>
            </a:r>
            <a:r>
              <a:rPr lang="en-DE" dirty="0" err="1"/>
              <a:t>bei</a:t>
            </a:r>
            <a:r>
              <a:rPr lang="en-DE" dirty="0"/>
              <a:t> Gleam Code</a:t>
            </a:r>
          </a:p>
        </p:txBody>
      </p:sp>
    </p:spTree>
    <p:extLst>
      <p:ext uri="{BB962C8B-B14F-4D97-AF65-F5344CB8AC3E}">
        <p14:creationId xmlns:p14="http://schemas.microsoft.com/office/powerpoint/2010/main" val="293958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999980-7E01-C9BA-F8D0-DEB40168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SWE </a:t>
            </a:r>
            <a:r>
              <a:rPr lang="en-DE" dirty="0" err="1"/>
              <a:t>Agenten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A94153-CF46-BA7C-5751-45C4A779F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C  : 1972</a:t>
            </a:r>
          </a:p>
          <a:p>
            <a:r>
              <a:rPr lang="en-DE" dirty="0"/>
              <a:t>Java : 1995</a:t>
            </a:r>
          </a:p>
          <a:p>
            <a:r>
              <a:rPr lang="en-DE" dirty="0"/>
              <a:t>Go : 2009</a:t>
            </a:r>
          </a:p>
          <a:p>
            <a:r>
              <a:rPr lang="en-DE" dirty="0"/>
              <a:t>Gleam : 2020</a:t>
            </a:r>
          </a:p>
          <a:p>
            <a:endParaRPr lang="en-DE" dirty="0"/>
          </a:p>
          <a:p>
            <a:r>
              <a:rPr lang="en-DE" dirty="0"/>
              <a:t>-&gt; Weniger Code examples für Gleam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3103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7AAA14-E60D-9BDB-C4EA-27C33FAD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97878"/>
            <a:ext cx="8596668" cy="1320800"/>
          </a:xfrm>
        </p:spPr>
        <p:txBody>
          <a:bodyPr/>
          <a:lstStyle/>
          <a:p>
            <a:r>
              <a:rPr lang="en-DE" dirty="0"/>
              <a:t>Conclusion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C0AEE1-B285-D89C-CA0D-E7C22DE6F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CDA57721-120A-8819-B50C-1F28465E7F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523388"/>
              </p:ext>
            </p:extLst>
          </p:nvPr>
        </p:nvGraphicFramePr>
        <p:xfrm>
          <a:off x="677691" y="2160589"/>
          <a:ext cx="859631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9850849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93988452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524773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Gleam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Go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62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Functional Programming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80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Bitwise Operations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940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Error Handling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253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Performance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55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Implementation Difficulty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108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Vollständigkeit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296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SWE </a:t>
                      </a:r>
                      <a:r>
                        <a:rPr lang="en-DE" dirty="0" err="1"/>
                        <a:t>Agenten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6491"/>
                  </a:ext>
                </a:extLst>
              </a:tr>
            </a:tbl>
          </a:graphicData>
        </a:graphic>
      </p:graphicFrame>
      <p:pic>
        <p:nvPicPr>
          <p:cNvPr id="5" name="Grafik 4" descr="Ein Bild, das Kreativität, Kunst, Stern enthält.&#10;&#10;KI-generierte Inhalte können fehlerhaft sein.">
            <a:extLst>
              <a:ext uri="{FF2B5EF4-FFF2-40B4-BE49-F238E27FC236}">
                <a16:creationId xmlns:a16="http://schemas.microsoft.com/office/drawing/2014/main" id="{3853E2F0-49DA-5155-6ECA-65C50CBA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827" y="2231580"/>
            <a:ext cx="261841" cy="25077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70ED493-3E61-1DCD-C355-7AFEACDB8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751" y="2231580"/>
            <a:ext cx="213367" cy="21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66C671D-8D84-3377-AEE9-DADB7D5F7CE2}"/>
              </a:ext>
            </a:extLst>
          </p:cNvPr>
          <p:cNvSpPr txBox="1"/>
          <p:nvPr/>
        </p:nvSpPr>
        <p:spPr>
          <a:xfrm>
            <a:off x="3500804" y="2539595"/>
            <a:ext cx="609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🏆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035EA95-3170-6D4B-5C68-42FA46BD3218}"/>
              </a:ext>
            </a:extLst>
          </p:cNvPr>
          <p:cNvSpPr txBox="1"/>
          <p:nvPr/>
        </p:nvSpPr>
        <p:spPr>
          <a:xfrm>
            <a:off x="3500804" y="3273109"/>
            <a:ext cx="609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🏆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C2567DD-BA4B-9CF3-94B7-83FA0C5D5A3D}"/>
              </a:ext>
            </a:extLst>
          </p:cNvPr>
          <p:cNvSpPr txBox="1"/>
          <p:nvPr/>
        </p:nvSpPr>
        <p:spPr>
          <a:xfrm>
            <a:off x="6387403" y="3644703"/>
            <a:ext cx="609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🏆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2842B19-A30A-4558-8D32-74D921065011}"/>
              </a:ext>
            </a:extLst>
          </p:cNvPr>
          <p:cNvSpPr txBox="1"/>
          <p:nvPr/>
        </p:nvSpPr>
        <p:spPr>
          <a:xfrm>
            <a:off x="6387403" y="4006623"/>
            <a:ext cx="609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🏆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A74AEFD-9837-6BE4-E1D3-CC4A4A4F18B4}"/>
              </a:ext>
            </a:extLst>
          </p:cNvPr>
          <p:cNvSpPr txBox="1"/>
          <p:nvPr/>
        </p:nvSpPr>
        <p:spPr>
          <a:xfrm>
            <a:off x="6387403" y="4388268"/>
            <a:ext cx="609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🏆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D952E67-B9BA-0748-6A73-9AB21DF3D0A3}"/>
              </a:ext>
            </a:extLst>
          </p:cNvPr>
          <p:cNvSpPr txBox="1"/>
          <p:nvPr/>
        </p:nvSpPr>
        <p:spPr>
          <a:xfrm>
            <a:off x="6387403" y="4737875"/>
            <a:ext cx="609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🏆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67A3AA1-6F91-408E-7979-EE28818C7F85}"/>
              </a:ext>
            </a:extLst>
          </p:cNvPr>
          <p:cNvSpPr txBox="1"/>
          <p:nvPr/>
        </p:nvSpPr>
        <p:spPr>
          <a:xfrm>
            <a:off x="6162675" y="2897621"/>
            <a:ext cx="6098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🏆</a:t>
            </a:r>
          </a:p>
        </p:txBody>
      </p:sp>
    </p:spTree>
    <p:extLst>
      <p:ext uri="{BB962C8B-B14F-4D97-AF65-F5344CB8AC3E}">
        <p14:creationId xmlns:p14="http://schemas.microsoft.com/office/powerpoint/2010/main" val="184093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BC0B2-2706-9B8B-7DEB-AC0D813C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Conclusion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E10CA2-16DF-CE9F-A116-21D28BD46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Go is the better language to implement the md5 Algorithm.</a:t>
            </a:r>
            <a:endParaRPr lang="de-DE" dirty="0"/>
          </a:p>
          <a:p>
            <a:endParaRPr lang="de-DE" dirty="0"/>
          </a:p>
          <a:p>
            <a:r>
              <a:rPr lang="de-DE" dirty="0"/>
              <a:t>Go kann md5 besser modellieren</a:t>
            </a:r>
            <a:br>
              <a:rPr lang="en-DE" dirty="0"/>
            </a:br>
            <a:endParaRPr lang="en-DE" dirty="0"/>
          </a:p>
          <a:p>
            <a:r>
              <a:rPr lang="en-DE" dirty="0"/>
              <a:t>Gleam excels at higher level, concurrent workloads.</a:t>
            </a:r>
          </a:p>
          <a:p>
            <a:endParaRPr lang="en-DE" dirty="0"/>
          </a:p>
          <a:p>
            <a:r>
              <a:rPr lang="en-DE" dirty="0" err="1"/>
              <a:t>Dont</a:t>
            </a:r>
            <a:r>
              <a:rPr lang="en-DE" dirty="0"/>
              <a:t> write MD5 in gleam, use the FFI!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591687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448</Words>
  <Application>Microsoft Office PowerPoint</Application>
  <PresentationFormat>Breitbild</PresentationFormat>
  <Paragraphs>156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Wingdings 3</vt:lpstr>
      <vt:lpstr>Facette</vt:lpstr>
      <vt:lpstr>KP Abschlusspräsentation</vt:lpstr>
      <vt:lpstr>Gleam vs GO : Funktionales Programmieren</vt:lpstr>
      <vt:lpstr>Agenda</vt:lpstr>
      <vt:lpstr>Ziele</vt:lpstr>
      <vt:lpstr>MD5 Hash</vt:lpstr>
      <vt:lpstr>Algorithmus</vt:lpstr>
      <vt:lpstr>Algorithmus</vt:lpstr>
      <vt:lpstr>Algorithmus</vt:lpstr>
      <vt:lpstr>Algorithmus</vt:lpstr>
      <vt:lpstr>Algorithmus</vt:lpstr>
      <vt:lpstr>Funktionales Programmieren</vt:lpstr>
      <vt:lpstr>Bitwise Operation: Gleam</vt:lpstr>
      <vt:lpstr>Bitwise Operation: Gleam</vt:lpstr>
      <vt:lpstr>Bitwise Operation: Go</vt:lpstr>
      <vt:lpstr>Error Handling</vt:lpstr>
      <vt:lpstr>Demo!</vt:lpstr>
      <vt:lpstr>Benchmark</vt:lpstr>
      <vt:lpstr>Vollständigkeit</vt:lpstr>
      <vt:lpstr>SWE Agenten</vt:lpstr>
      <vt:lpstr>SWE Agenten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Schmerber, Daniel</dc:creator>
  <cp:lastModifiedBy>Schmerber, Daniel</cp:lastModifiedBy>
  <cp:revision>6</cp:revision>
  <dcterms:created xsi:type="dcterms:W3CDTF">2026-01-13T17:25:50Z</dcterms:created>
  <dcterms:modified xsi:type="dcterms:W3CDTF">2026-01-14T11:38:08Z</dcterms:modified>
</cp:coreProperties>
</file>